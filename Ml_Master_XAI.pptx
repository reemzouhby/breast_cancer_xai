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B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52026" autoAdjust="0"/>
  </p:normalViewPr>
  <p:slideViewPr>
    <p:cSldViewPr snapToGrid="0" snapToObjects="1">
      <p:cViewPr varScale="1">
        <p:scale>
          <a:sx n="56" d="100"/>
          <a:sy n="56" d="100"/>
        </p:scale>
        <p:origin x="224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7974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82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2926080"/>
            <a:ext cx="2286000" cy="22860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594360"/>
            <a:ext cx="1280160" cy="1280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00584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Interpretable Medical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Diagnosis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65760" y="26517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2C3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Glass-Box Models vs Black-Box Models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65760" y="3246120"/>
            <a:ext cx="5943600" cy="1829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436099" y="3246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vs Interpretability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AE8B757F-8305-3840-B9D8-3E2CAA7BD994}"/>
              </a:ext>
            </a:extLst>
          </p:cNvPr>
          <p:cNvSpPr/>
          <p:nvPr/>
        </p:nvSpPr>
        <p:spPr>
          <a:xfrm>
            <a:off x="6513341" y="4193345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Done by: </a:t>
            </a:r>
            <a:br>
              <a:rPr lang="en-US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Reem AL-ZOUHBY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Mariam MARHABA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 &amp; Goal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73736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64008" cy="173736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1247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Context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" y="15544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Breast cancer diagnosis requires both accuracy AND explanations — clinicians must understand WHY a model predicts malignancy to trust it in clinical decisions.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74320" y="2880360"/>
            <a:ext cx="4206240" cy="173736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2880360"/>
            <a:ext cx="64008" cy="1737360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632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0120" y="30449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Goal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57200" y="3474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EBM (Glass-Box) vs Random Forest (Black-Box) on the Breast Cancer Wisconsin dataset — measuring both predictive performance and interpretability quality.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4709160" y="960120"/>
            <a:ext cx="4206240" cy="173736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09160" y="960120"/>
            <a:ext cx="64008" cy="1737360"/>
          </a:xfrm>
          <a:prstGeom prst="rect">
            <a:avLst/>
          </a:prstGeom>
          <a:solidFill>
            <a:srgbClr val="E05C5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1430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94960" y="11247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Core Challenge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4892040" y="15544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ML (Random Forest, Neural Nets) achieves high accuracy but is a black-box. Can we match that accuracy while keeping the model fully transparent?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4709160" y="2880360"/>
            <a:ext cx="4206240" cy="173736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09160" y="2880360"/>
            <a:ext cx="64008" cy="173736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06324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94960" y="30449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Question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4892040" y="34747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we really sacrifice accuracy for interpretability, or can EBMs give us the best of both worlds?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Glass-Box vs Post-Hoc Explainability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4023360"/>
          </a:xfrm>
          <a:prstGeom prst="rect">
            <a:avLst/>
          </a:prstGeom>
          <a:solidFill>
            <a:srgbClr val="FFF5F5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4114800" cy="502920"/>
          </a:xfrm>
          <a:prstGeom prst="rect">
            <a:avLst/>
          </a:prstGeom>
          <a:solidFill>
            <a:srgbClr val="E05C5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9611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914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POST-HOC EXPLANATIONS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(Black-Box + Explainer Added After)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65760" y="1508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5C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600200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Forest, Neural Net, XGBoost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65760" y="19019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5C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600200" y="19019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 model → then add explanation tool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65760" y="229514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5C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600200" y="22951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SHAP, LIME, Permutation Importance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65760" y="268833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5C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600200" y="268833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APPROXIMATE — an approximation of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model's true behavior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65760" y="30815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5C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Fidelity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600200" y="30815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be wrong or misleading in edge cases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65760" y="3474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05C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Trust Issue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600200" y="3474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explanation ≠ the actual model logic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754880" y="868680"/>
            <a:ext cx="4114800" cy="4023360"/>
          </a:xfrm>
          <a:prstGeom prst="rect">
            <a:avLst/>
          </a:prstGeom>
          <a:solidFill>
            <a:srgbClr val="F0FBF9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754880" y="868680"/>
            <a:ext cx="4114800" cy="50292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896112"/>
            <a:ext cx="347472" cy="34747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349240" y="914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GLASS-BOX MODELS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(Interpretable by Design — No Extras Needed)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4846320" y="1508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6080760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EBM, Decision Tree, Linear Regression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4846320" y="19019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6080760" y="19019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the explanation — built in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4846320" y="229514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6080760" y="22951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EBM, GAM, Logistic Regression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4846320" y="268833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6080760" y="268833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EXACT — the explanation IS the model's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actual decision logic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4846320" y="30815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Fidelity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1"/>
          <p:cNvSpPr/>
          <p:nvPr/>
        </p:nvSpPr>
        <p:spPr>
          <a:xfrm>
            <a:off x="6080760" y="30815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100% faithful to the model's computation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2"/>
          <p:cNvSpPr/>
          <p:nvPr/>
        </p:nvSpPr>
        <p:spPr>
          <a:xfrm>
            <a:off x="4846320" y="34747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Trust Issue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3"/>
          <p:cNvSpPr/>
          <p:nvPr/>
        </p:nvSpPr>
        <p:spPr>
          <a:xfrm>
            <a:off x="6080760" y="3474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None — what you see is what the model does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EBM? (Explainable Boosting Machine)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8595360" cy="9144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P(malignant | x)  =  σ( β₀  +  f₁(x₁)  +  f₂(x₂)  +  …  +  fₙ(xₙ)  +  fᵢⱼ(xᵢ, xⱼ) 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965960"/>
            <a:ext cx="2743200" cy="292608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965960"/>
            <a:ext cx="27432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20574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 Functions  fₖ(xₖ)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265176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feature has its OWN learned curve showing exactly how it contributes to the cancer prediction. These curves are the explanation — no approximation needed.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154680" y="1965960"/>
            <a:ext cx="2743200" cy="292608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965960"/>
            <a:ext cx="2743200" cy="54864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20574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C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Pairwise Interactions  fᵢⱼ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91840" y="265176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EBM can also capture how TWO features interact (e.g., high radius + high concavity), making it more powerful than plain GAMs while remaining interpretable.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35040" y="1965960"/>
            <a:ext cx="2743200" cy="292608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965960"/>
            <a:ext cx="27432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20574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Trained by Boosting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172200" y="2651760"/>
            <a:ext cx="2468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EBM trains one feature at a time in rounds (like gradient boosting), allowing it to learn complex non-linear shapes while keeping each feature's contribution separable and explainable.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Partial Dependence Plots (PDPs) — Explained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754880" cy="411480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 PDP?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4389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Partial Dependence Plot shows the MARGINAL effect of one (or two) features on the predicted outcome, averaging over all other features.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Pick feature X (e.g., 'worst radius')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For each value of X across its range…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Replace every sample's X with that value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Get prediction for all modified samples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Average the predictions → plot the curve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PDP for RF: POST-HOC — computed AFTER training, only an approximation of the true model behavior.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EBM Shape Functions: INTRINSIC — the shape function IS the PDP, exact by construction.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212080" y="868680"/>
            <a:ext cx="3657600" cy="411480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94960" y="9601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PDP: RF vs EBM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303520" y="1417320"/>
            <a:ext cx="118872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5349240" y="1463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Property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92240" y="1417320"/>
            <a:ext cx="109728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463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 PDP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589520" y="1417320"/>
            <a:ext cx="118872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635240" y="1463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EBM Shape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303520" y="1929384"/>
            <a:ext cx="1188720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5349240" y="197510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92240" y="1929384"/>
            <a:ext cx="1097280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197510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5C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Post-hoc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589520" y="1929384"/>
            <a:ext cx="1188720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7635240" y="197510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Intrinsic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303520" y="2441448"/>
            <a:ext cx="1188720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2" name="Text 20"/>
          <p:cNvSpPr/>
          <p:nvPr/>
        </p:nvSpPr>
        <p:spPr>
          <a:xfrm>
            <a:off x="5349240" y="24871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Fidelity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92240" y="2441448"/>
            <a:ext cx="1097280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24871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5C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Approximate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589520" y="2441448"/>
            <a:ext cx="1188720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6" name="Text 24"/>
          <p:cNvSpPr/>
          <p:nvPr/>
        </p:nvSpPr>
        <p:spPr>
          <a:xfrm>
            <a:off x="7635240" y="24871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Exact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303520" y="2953512"/>
            <a:ext cx="1188720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8" name="Text 26"/>
          <p:cNvSpPr/>
          <p:nvPr/>
        </p:nvSpPr>
        <p:spPr>
          <a:xfrm>
            <a:off x="5349240" y="29992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492240" y="2953512"/>
            <a:ext cx="1097280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299923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5C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Slow (recompute)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589520" y="2953512"/>
            <a:ext cx="1188720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2" name="Text 30"/>
          <p:cNvSpPr/>
          <p:nvPr/>
        </p:nvSpPr>
        <p:spPr>
          <a:xfrm>
            <a:off x="7635240" y="299923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303520" y="3465576"/>
            <a:ext cx="1188720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4" name="Text 32"/>
          <p:cNvSpPr/>
          <p:nvPr/>
        </p:nvSpPr>
        <p:spPr>
          <a:xfrm>
            <a:off x="5349240" y="35112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Corr. features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492240" y="3465576"/>
            <a:ext cx="1097280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6" name="Text 34"/>
          <p:cNvSpPr/>
          <p:nvPr/>
        </p:nvSpPr>
        <p:spPr>
          <a:xfrm>
            <a:off x="6537960" y="351129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5C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mislead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589520" y="3465576"/>
            <a:ext cx="1188720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8" name="Text 36"/>
          <p:cNvSpPr/>
          <p:nvPr/>
        </p:nvSpPr>
        <p:spPr>
          <a:xfrm>
            <a:off x="7635240" y="351129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Robust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303520" y="3977640"/>
            <a:ext cx="1188720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0" name="Text 38"/>
          <p:cNvSpPr/>
          <p:nvPr/>
        </p:nvSpPr>
        <p:spPr>
          <a:xfrm>
            <a:off x="5349240" y="4023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Trust level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492240" y="3977640"/>
            <a:ext cx="1097280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2" name="Text 40"/>
          <p:cNvSpPr/>
          <p:nvPr/>
        </p:nvSpPr>
        <p:spPr>
          <a:xfrm>
            <a:off x="6537960" y="40233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5C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Medium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589520" y="3977640"/>
            <a:ext cx="1188720" cy="4572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4" name="Text 42"/>
          <p:cNvSpPr/>
          <p:nvPr/>
        </p:nvSpPr>
        <p:spPr>
          <a:xfrm>
            <a:off x="7635240" y="4023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C3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Methodology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011680" cy="105156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569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74320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468880" y="868680"/>
            <a:ext cx="2011680" cy="105156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9144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468880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63440" y="868680"/>
            <a:ext cx="2011680" cy="1051560"/>
          </a:xfrm>
          <a:prstGeom prst="rect">
            <a:avLst/>
          </a:prstGeom>
          <a:solidFill>
            <a:srgbClr val="02C39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9144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357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63440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Benign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858000" y="868680"/>
            <a:ext cx="2011680" cy="1051560"/>
          </a:xfrm>
          <a:prstGeom prst="rect">
            <a:avLst/>
          </a:prstGeom>
          <a:solidFill>
            <a:srgbClr val="E05C5C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9144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212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858000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Malignant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4320" y="2057400"/>
            <a:ext cx="8595360" cy="4572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103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74320" y="2606040"/>
            <a:ext cx="1143000" cy="822960"/>
          </a:xfrm>
          <a:prstGeom prst="rect">
            <a:avLst/>
          </a:prstGeom>
          <a:solidFill>
            <a:srgbClr val="21295C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4320" y="2624328"/>
            <a:ext cx="1143000" cy="786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Data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389888" y="2816352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508760" y="2606040"/>
            <a:ext cx="1143000" cy="82296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508760" y="2624328"/>
            <a:ext cx="1143000" cy="786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Train/Test Split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(80/20 stratified)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624328" y="2816352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743200" y="2606040"/>
            <a:ext cx="1143000" cy="822960"/>
          </a:xfrm>
          <a:prstGeom prst="rect">
            <a:avLst/>
          </a:prstGeom>
          <a:solidFill>
            <a:srgbClr val="64748B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43200" y="2624328"/>
            <a:ext cx="1143000" cy="786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Scale (RF only)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3858768" y="2816352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977640" y="2606040"/>
            <a:ext cx="1143000" cy="822960"/>
          </a:xfrm>
          <a:prstGeom prst="rect">
            <a:avLst/>
          </a:prstGeom>
          <a:solidFill>
            <a:srgbClr val="E05C5C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977640" y="2624328"/>
            <a:ext cx="1143000" cy="786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 RF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 trees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093208" y="2816352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212080" y="2606040"/>
            <a:ext cx="1143000" cy="82296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212080" y="2624328"/>
            <a:ext cx="1143000" cy="786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 EBM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 interactions)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327648" y="2816352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446520" y="2606040"/>
            <a:ext cx="1143000" cy="822960"/>
          </a:xfrm>
          <a:prstGeom prst="rect">
            <a:avLst/>
          </a:prstGeom>
          <a:solidFill>
            <a:srgbClr val="02C39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46520" y="2624328"/>
            <a:ext cx="1143000" cy="786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 + AUC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562088" y="2816352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680960" y="2606040"/>
            <a:ext cx="1143000" cy="822960"/>
          </a:xfrm>
          <a:prstGeom prst="rect">
            <a:avLst/>
          </a:prstGeom>
          <a:solidFill>
            <a:srgbClr val="02C39A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680960" y="2624328"/>
            <a:ext cx="1143000" cy="786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PDP + Shapes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274320" y="3611880"/>
            <a:ext cx="8595360" cy="146304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5720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9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 Used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✦ Test Accuracy — % of correct classifications on unseen data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✦ AUC-ROC — Area under ROC curve; measures discrimination power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✦ 5-Fold Cross-Validation — Checks generalization, reduces overfitting risk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✦ Precision / Recall / F1 — Critical in medical context (false negatives are costly)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 Performance Comparison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5029200" cy="219456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868680"/>
            <a:ext cx="3840480" cy="25603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" y="3474720"/>
            <a:ext cx="2331720" cy="310896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7" name="Text 3"/>
          <p:cNvSpPr/>
          <p:nvPr/>
        </p:nvSpPr>
        <p:spPr>
          <a:xfrm>
            <a:off x="347472" y="3511296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2651760" y="3474720"/>
            <a:ext cx="2194560" cy="310896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9" name="Text 5"/>
          <p:cNvSpPr/>
          <p:nvPr/>
        </p:nvSpPr>
        <p:spPr>
          <a:xfrm>
            <a:off x="2724912" y="3511296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4892040" y="3474720"/>
            <a:ext cx="2194560" cy="310896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1" name="Text 7"/>
          <p:cNvSpPr/>
          <p:nvPr/>
        </p:nvSpPr>
        <p:spPr>
          <a:xfrm>
            <a:off x="4965192" y="3511296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EBM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7132320" y="3474720"/>
            <a:ext cx="1737360" cy="310896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3" name="Text 9"/>
          <p:cNvSpPr/>
          <p:nvPr/>
        </p:nvSpPr>
        <p:spPr>
          <a:xfrm>
            <a:off x="7205472" y="351129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Winner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274320" y="3794760"/>
            <a:ext cx="23317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1"/>
          <p:cNvSpPr/>
          <p:nvPr/>
        </p:nvSpPr>
        <p:spPr>
          <a:xfrm>
            <a:off x="347472" y="3831336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Accuracy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2651760" y="3794760"/>
            <a:ext cx="21945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3"/>
          <p:cNvSpPr/>
          <p:nvPr/>
        </p:nvSpPr>
        <p:spPr>
          <a:xfrm>
            <a:off x="2724912" y="3831336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95.61%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4892040" y="3794760"/>
            <a:ext cx="21945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5"/>
          <p:cNvSpPr/>
          <p:nvPr/>
        </p:nvSpPr>
        <p:spPr>
          <a:xfrm>
            <a:off x="4965192" y="3831336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96.49%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7132320" y="3794760"/>
            <a:ext cx="17373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7"/>
          <p:cNvSpPr/>
          <p:nvPr/>
        </p:nvSpPr>
        <p:spPr>
          <a:xfrm>
            <a:off x="7205472" y="383133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EBM ✦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274320" y="4114800"/>
            <a:ext cx="2331720" cy="310896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3" name="Text 19"/>
          <p:cNvSpPr/>
          <p:nvPr/>
        </p:nvSpPr>
        <p:spPr>
          <a:xfrm>
            <a:off x="347472" y="4151376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AUC-ROC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0"/>
          <p:cNvSpPr/>
          <p:nvPr/>
        </p:nvSpPr>
        <p:spPr>
          <a:xfrm>
            <a:off x="2651760" y="4114800"/>
            <a:ext cx="2194560" cy="310896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5" name="Text 21"/>
          <p:cNvSpPr/>
          <p:nvPr/>
        </p:nvSpPr>
        <p:spPr>
          <a:xfrm>
            <a:off x="2724912" y="4151376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99.32%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4892040" y="4114800"/>
            <a:ext cx="2194560" cy="310896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7" name="Text 23"/>
          <p:cNvSpPr/>
          <p:nvPr/>
        </p:nvSpPr>
        <p:spPr>
          <a:xfrm>
            <a:off x="4965192" y="4151376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99.04%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4"/>
          <p:cNvSpPr/>
          <p:nvPr/>
        </p:nvSpPr>
        <p:spPr>
          <a:xfrm>
            <a:off x="7132320" y="4114800"/>
            <a:ext cx="1737360" cy="310896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9" name="Text 25"/>
          <p:cNvSpPr/>
          <p:nvPr/>
        </p:nvSpPr>
        <p:spPr>
          <a:xfrm>
            <a:off x="7205472" y="415137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 ✦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6"/>
          <p:cNvSpPr/>
          <p:nvPr/>
        </p:nvSpPr>
        <p:spPr>
          <a:xfrm>
            <a:off x="274320" y="4434840"/>
            <a:ext cx="233172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7"/>
          <p:cNvSpPr/>
          <p:nvPr/>
        </p:nvSpPr>
        <p:spPr>
          <a:xfrm>
            <a:off x="347472" y="4471416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CV Accuracy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8"/>
          <p:cNvSpPr/>
          <p:nvPr/>
        </p:nvSpPr>
        <p:spPr>
          <a:xfrm>
            <a:off x="2651760" y="4434840"/>
            <a:ext cx="21945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29"/>
          <p:cNvSpPr/>
          <p:nvPr/>
        </p:nvSpPr>
        <p:spPr>
          <a:xfrm>
            <a:off x="2724912" y="4471416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96.26% ± 1.8%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0"/>
          <p:cNvSpPr/>
          <p:nvPr/>
        </p:nvSpPr>
        <p:spPr>
          <a:xfrm>
            <a:off x="4892040" y="4434840"/>
            <a:ext cx="21945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1"/>
          <p:cNvSpPr/>
          <p:nvPr/>
        </p:nvSpPr>
        <p:spPr>
          <a:xfrm>
            <a:off x="4965192" y="4471416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96.92% ± 1.3%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2"/>
          <p:cNvSpPr/>
          <p:nvPr/>
        </p:nvSpPr>
        <p:spPr>
          <a:xfrm>
            <a:off x="7132320" y="4434840"/>
            <a:ext cx="1737360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3"/>
          <p:cNvSpPr/>
          <p:nvPr/>
        </p:nvSpPr>
        <p:spPr>
          <a:xfrm>
            <a:off x="7205472" y="447141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EBM ✦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4"/>
          <p:cNvSpPr/>
          <p:nvPr/>
        </p:nvSpPr>
        <p:spPr>
          <a:xfrm>
            <a:off x="274320" y="4754880"/>
            <a:ext cx="2331720" cy="310896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9" name="Text 35"/>
          <p:cNvSpPr/>
          <p:nvPr/>
        </p:nvSpPr>
        <p:spPr>
          <a:xfrm>
            <a:off x="347472" y="4791456"/>
            <a:ext cx="2221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Interpretable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6"/>
          <p:cNvSpPr/>
          <p:nvPr/>
        </p:nvSpPr>
        <p:spPr>
          <a:xfrm>
            <a:off x="2651760" y="4754880"/>
            <a:ext cx="2194560" cy="310896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1" name="Text 37"/>
          <p:cNvSpPr/>
          <p:nvPr/>
        </p:nvSpPr>
        <p:spPr>
          <a:xfrm>
            <a:off x="2724912" y="4791456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❌ No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38"/>
          <p:cNvSpPr/>
          <p:nvPr/>
        </p:nvSpPr>
        <p:spPr>
          <a:xfrm>
            <a:off x="4892040" y="4754880"/>
            <a:ext cx="2194560" cy="310896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3" name="Text 39"/>
          <p:cNvSpPr/>
          <p:nvPr/>
        </p:nvSpPr>
        <p:spPr>
          <a:xfrm>
            <a:off x="4965192" y="4791456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 Yes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40"/>
          <p:cNvSpPr/>
          <p:nvPr/>
        </p:nvSpPr>
        <p:spPr>
          <a:xfrm>
            <a:off x="7132320" y="4754880"/>
            <a:ext cx="1737360" cy="310896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5" name="Text 41"/>
          <p:cNvSpPr/>
          <p:nvPr/>
        </p:nvSpPr>
        <p:spPr>
          <a:xfrm>
            <a:off x="7205472" y="4791456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EBM ✦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6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EBM Global Explanation — Feature Importance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4410"/>
            <a:ext cx="4572000" cy="2514600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174242"/>
            <a:ext cx="4114800" cy="23347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88864" y="350901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 post-hoc feature importance (Gini)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EBM Shape Functions — Native PDPs (Glass-Box)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081DECB-5591-3DDB-D23A-054D68E8E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0277" y="1086816"/>
            <a:ext cx="5743629" cy="35519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— PDPs (Post-Hoc Approximation)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413" y="964517"/>
            <a:ext cx="530352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EBM Local Explanation — Single Patient Prediction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48B8804-96AB-BB2C-7364-58AC6CD81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334" y="1066753"/>
            <a:ext cx="7379346" cy="389703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Discussion: The Accuracy–Interpretability Tradeoff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2743200" cy="502920"/>
          </a:xfrm>
          <a:prstGeom prst="rect">
            <a:avLst/>
          </a:prstGeom>
          <a:solidFill>
            <a:srgbClr val="02C39A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200400" y="868680"/>
            <a:ext cx="2743200" cy="502920"/>
          </a:xfrm>
          <a:prstGeom prst="rect">
            <a:avLst/>
          </a:prstGeom>
          <a:solidFill>
            <a:srgbClr val="028090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943600" y="868680"/>
            <a:ext cx="2743200" cy="502920"/>
          </a:xfrm>
          <a:prstGeom prst="rect">
            <a:avLst/>
          </a:prstGeom>
          <a:solidFill>
            <a:srgbClr val="E05C5C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9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← More Interpretable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94360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129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Accurate →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100584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4173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011680" y="1417320"/>
            <a:ext cx="100584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2011680" y="14173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474720" y="1417320"/>
            <a:ext cx="100584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14173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754880" y="1417320"/>
            <a:ext cx="100584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4173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EBM ★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0" y="1417320"/>
            <a:ext cx="1005840" cy="502920"/>
          </a:xfrm>
          <a:prstGeom prst="ellipse">
            <a:avLst/>
          </a:prstGeom>
          <a:solidFill>
            <a:srgbClr val="E05C5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4173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Forest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772400" y="1417320"/>
            <a:ext cx="1005840" cy="502920"/>
          </a:xfrm>
          <a:prstGeom prst="ellipse">
            <a:avLst/>
          </a:prstGeom>
          <a:solidFill>
            <a:srgbClr val="E05C5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0" y="14173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74320" y="2103120"/>
            <a:ext cx="4206240" cy="123444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103120"/>
            <a:ext cx="54864" cy="1234440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21762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C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Myth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11480" y="2487168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was long assumed that interpretable models are less accurate. Our results challenge this: EBM (96.49%) outperformed Random Forest (95.61%) on this dataset.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74320" y="3474720"/>
            <a:ext cx="4206240" cy="123444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474720"/>
            <a:ext cx="54864" cy="1234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411480" y="3547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EBM Wins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11480" y="3858768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EBM wins on interpretability, regulatory compliance, clinical trust, debugging, and in many real-world datasets with reasonable feature complexity.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709160" y="2103120"/>
            <a:ext cx="4206240" cy="123444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2103120"/>
            <a:ext cx="54864" cy="1234440"/>
          </a:xfrm>
          <a:prstGeom prst="rect">
            <a:avLst/>
          </a:prstGeom>
          <a:solidFill>
            <a:srgbClr val="E05C5C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1762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C5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RF Wins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846320" y="2487168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RF achieved slightly higher AUC (99.32% vs 99.04%). In complex tabular data with many high-order interactions, black-boxes may still have an edge.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709160" y="3474720"/>
            <a:ext cx="4206240" cy="1234440"/>
          </a:xfrm>
          <a:prstGeom prst="rect">
            <a:avLst/>
          </a:prstGeom>
          <a:solidFill>
            <a:srgbClr val="F0F4F8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474720"/>
            <a:ext cx="54864" cy="1234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3547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 AI Principle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846320" y="3858768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high-stakes decisions, a model that is 99% accurate but unexplainable may be less useful than a 97% accurate model with clear, auditable explanations.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640080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0584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0332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EBM ≈ RF Accuracy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307592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Explainable Boosting Machines achieved 96.49% accuracy vs RF's 95.61% — demonstrating that interpretability does not require sacrificing predictive power.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502920" cy="502920"/>
          </a:xfrm>
          <a:prstGeom prst="ellipse">
            <a:avLst/>
          </a:prstGeom>
          <a:solidFill>
            <a:srgbClr val="E05C5C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1993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C5C"/>
                </a:solidFill>
              </a:rPr>
              <a:t>Interpretability Is Real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267712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EBM shape functions provide exact, faithful explanations. Unlike SHAP/LIME applied to RF, no approximation is involved — what you see IS the model.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953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</a:rPr>
              <a:t>PDPs: Native vs Post-Hoc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227832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EBM's shape functions are intrinsically PDPs — instant, exact, and reliable. RF PDPs are approximate, slow, and can mislead when features are correlated.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8862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3913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Medical AI Recommendation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4187952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For clinical decision support, EBMs should be the default choice. They satisfy regulatory requirements and clinical trust without compromising accuracy.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>
            <a:extLst>
              <a:ext uri="{FF2B5EF4-FFF2-40B4-BE49-F238E27FC236}">
                <a16:creationId xmlns:a16="http://schemas.microsoft.com/office/drawing/2014/main" id="{6D337FE5-978D-C1E5-EDAF-687B5DFC6179}"/>
              </a:ext>
            </a:extLst>
          </p:cNvPr>
          <p:cNvSpPr/>
          <p:nvPr/>
        </p:nvSpPr>
        <p:spPr>
          <a:xfrm>
            <a:off x="-1101600" y="-1216800"/>
            <a:ext cx="4572000" cy="4572000"/>
          </a:xfrm>
          <a:prstGeom prst="ellipse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795F77B0-676E-2885-ACD2-06767D739B48}"/>
              </a:ext>
            </a:extLst>
          </p:cNvPr>
          <p:cNvSpPr/>
          <p:nvPr/>
        </p:nvSpPr>
        <p:spPr>
          <a:xfrm>
            <a:off x="6379200" y="2642400"/>
            <a:ext cx="3657600" cy="36576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225ECF3B-D83F-B360-34A0-E963C2802961}"/>
              </a:ext>
            </a:extLst>
          </p:cNvPr>
          <p:cNvSpPr/>
          <p:nvPr/>
        </p:nvSpPr>
        <p:spPr>
          <a:xfrm>
            <a:off x="2216215" y="225171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 ;)</a:t>
            </a:r>
          </a:p>
        </p:txBody>
      </p:sp>
    </p:spTree>
    <p:extLst>
      <p:ext uri="{BB962C8B-B14F-4D97-AF65-F5344CB8AC3E}">
        <p14:creationId xmlns:p14="http://schemas.microsoft.com/office/powerpoint/2010/main" val="353506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7729</TotalTime>
  <Words>1045</Words>
  <Application>Microsoft Office PowerPoint</Application>
  <PresentationFormat>On-screen Show (16:9)</PresentationFormat>
  <Paragraphs>195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Georgia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Interpretable Medical Diagnosis: EBM vs Random Forest</dc:title>
  <dc:subject>PptxGenJS Presentation</dc:subject>
  <dc:creator>PptxGenJS</dc:creator>
  <cp:lastModifiedBy>Reem AL-ZOUHBY</cp:lastModifiedBy>
  <cp:revision>7</cp:revision>
  <dcterms:created xsi:type="dcterms:W3CDTF">2026-05-09T21:42:26Z</dcterms:created>
  <dcterms:modified xsi:type="dcterms:W3CDTF">2026-05-15T21:05:39Z</dcterms:modified>
</cp:coreProperties>
</file>